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A678B-9F29-44FB-92F4-4C1E2DA9DD1D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1FB8F-8741-45C7-94DA-62ADC1FBED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8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name is Trevor Lee and this is my project presentation for comparing Neural Networks for NHL Performance Forecasting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6141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 of this project is to predict an NHL player’s performance next season given their past 3 seasons.</a:t>
            </a:r>
          </a:p>
          <a:p>
            <a:endParaRPr lang="en-US" dirty="0"/>
          </a:p>
          <a:p>
            <a:r>
              <a:rPr lang="en-US" dirty="0"/>
              <a:t>Stats in sports are hard to predict, especially hockey.</a:t>
            </a:r>
          </a:p>
          <a:p>
            <a:endParaRPr lang="en-US" dirty="0"/>
          </a:p>
          <a:p>
            <a:r>
              <a:rPr lang="en-US" dirty="0"/>
              <a:t>Players are prone to injury due to being a high contact sport, and it widely considered more luck-based than the other major sports.</a:t>
            </a:r>
          </a:p>
          <a:p>
            <a:endParaRPr lang="en-CA" dirty="0"/>
          </a:p>
          <a:p>
            <a:r>
              <a:rPr lang="en-CA" dirty="0"/>
              <a:t>To perform these predictions, I used MLP, RNN, LSTM, and a mix of LSTM and MLP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204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overview of the dataset her.</a:t>
            </a:r>
          </a:p>
          <a:p>
            <a:endParaRPr lang="en-US" dirty="0"/>
          </a:p>
          <a:p>
            <a:r>
              <a:rPr lang="en-US" dirty="0"/>
              <a:t>It spans the 1979-80 season to the 2019-20 season, containing box score stats and player info among other things for each player’s season.</a:t>
            </a:r>
          </a:p>
          <a:p>
            <a:endParaRPr lang="en-US" dirty="0"/>
          </a:p>
          <a:p>
            <a:r>
              <a:rPr lang="en-US" dirty="0"/>
              <a:t>The data was processed prior to use so it was easier to input into the models.</a:t>
            </a:r>
          </a:p>
          <a:p>
            <a:endParaRPr lang="en-US" dirty="0"/>
          </a:p>
          <a:p>
            <a:r>
              <a:rPr lang="en-US" dirty="0"/>
              <a:t>Goalies were removed because they use different stats than skaters which are not comparable.</a:t>
            </a:r>
          </a:p>
          <a:p>
            <a:endParaRPr lang="en-US" dirty="0"/>
          </a:p>
          <a:p>
            <a:r>
              <a:rPr lang="en-US" dirty="0"/>
              <a:t>Incomplete data or info deemed irrelevant or redundant was trimmed away.</a:t>
            </a:r>
          </a:p>
          <a:p>
            <a:endParaRPr lang="en-US" dirty="0"/>
          </a:p>
          <a:p>
            <a:r>
              <a:rPr lang="en-US" dirty="0"/>
              <a:t>Players would appear twice per season if they switched teams for any reason mid-season. These lines were merged, and then the data was flattened to lines that contain 3 years of box score stats rather than one.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6967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stats were goals, assists, and shots on goal, all on a per game basis as well as total games played.</a:t>
            </a:r>
          </a:p>
          <a:p>
            <a:endParaRPr lang="en-US" dirty="0"/>
          </a:p>
          <a:p>
            <a:r>
              <a:rPr lang="en-US" dirty="0"/>
              <a:t>The inputs to predict the targets are the aforementioned stats for the current season and the previous 2 seasons as well as some relevant player info.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3071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functions used in training the models are nearly identical to those used in assignment 3 with some from assignment 2.</a:t>
            </a:r>
          </a:p>
          <a:p>
            <a:endParaRPr lang="en-US" dirty="0"/>
          </a:p>
          <a:p>
            <a:r>
              <a:rPr lang="en-US" dirty="0"/>
              <a:t>These were just modified to record error instead of accuracy since we are predicting numerical values instead of classifying.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624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reminder of the models I used.</a:t>
            </a:r>
          </a:p>
          <a:p>
            <a:endParaRPr lang="en-US" dirty="0"/>
          </a:p>
          <a:p>
            <a:r>
              <a:rPr lang="en-US" dirty="0"/>
              <a:t>MLP, , RNN, LSTM, and an LSTM MLP hybrid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2684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models utilizing MLP seemed to converge lower and faster than RNN and LSTM.</a:t>
            </a:r>
          </a:p>
          <a:p>
            <a:endParaRPr lang="en-US" dirty="0"/>
          </a:p>
          <a:p>
            <a:r>
              <a:rPr lang="en-US" dirty="0"/>
              <a:t>The spikes on the graph are due to the model architecture with RNN and LSTM learning less heavily from one sample.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5313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quickly run through the results of our practical application.</a:t>
            </a:r>
          </a:p>
          <a:p>
            <a:endParaRPr lang="en-US" dirty="0"/>
          </a:p>
          <a:p>
            <a:r>
              <a:rPr lang="en-US" dirty="0"/>
              <a:t>Duncan Keith was used as a case of an aging player.</a:t>
            </a:r>
          </a:p>
          <a:p>
            <a:endParaRPr lang="en-US" dirty="0"/>
          </a:p>
          <a:p>
            <a:r>
              <a:rPr lang="en-US" dirty="0"/>
              <a:t>The inaccurate goal rates are largely due to the initial prediction having a very small value, giving us a small denominator for calculation.</a:t>
            </a:r>
          </a:p>
          <a:p>
            <a:endParaRPr lang="en-US" dirty="0"/>
          </a:p>
          <a:p>
            <a:r>
              <a:rPr lang="en-US" dirty="0"/>
              <a:t>Here, our hybrid model performed best.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5380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Malkin was chosen as a case of a frequently injured player.</a:t>
            </a:r>
          </a:p>
          <a:p>
            <a:endParaRPr lang="en-US" dirty="0"/>
          </a:p>
          <a:p>
            <a:r>
              <a:rPr lang="en-US" dirty="0"/>
              <a:t>The goal rate prediction was poor. It predicted a regression from the sample despite him being in his prime years.</a:t>
            </a:r>
          </a:p>
          <a:p>
            <a:endParaRPr lang="en-US" dirty="0"/>
          </a:p>
          <a:p>
            <a:r>
              <a:rPr lang="en-US" dirty="0"/>
              <a:t>But the models seemed to take injury history into account based on the Games Played prediction,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5081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Eller was an example of a depth player.</a:t>
            </a:r>
          </a:p>
          <a:p>
            <a:endParaRPr lang="en-US" dirty="0"/>
          </a:p>
          <a:p>
            <a:r>
              <a:rPr lang="en-US" dirty="0"/>
              <a:t>The goal prediction was bad again and his games played prediction was poor too for a player who is historically durable.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2653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Hughes is an example of an emerging star who also had an injury history.</a:t>
            </a:r>
          </a:p>
          <a:p>
            <a:endParaRPr lang="en-US" dirty="0"/>
          </a:p>
          <a:p>
            <a:r>
              <a:rPr lang="en-US" dirty="0"/>
              <a:t>The larger numbers make the predictions look more accurate for the opposite reason compared to Keith, giving larger denominators.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096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McCann is an example of a player who had a high shooting percentage.</a:t>
            </a:r>
          </a:p>
          <a:p>
            <a:endParaRPr lang="en-US" dirty="0"/>
          </a:p>
          <a:p>
            <a:r>
              <a:rPr lang="en-US" dirty="0"/>
              <a:t>The goals look off but in actuality, the model predicted close to his career norm of 13% and he had a down year shooting 10%.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6837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Dahlin was a sample of a prime-aged star defender.</a:t>
            </a:r>
          </a:p>
          <a:p>
            <a:endParaRPr lang="en-US" dirty="0"/>
          </a:p>
          <a:p>
            <a:r>
              <a:rPr lang="en-US" dirty="0"/>
              <a:t>All the models did fairly well with him.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802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Overall, MLP performed best on half of our sample and was best overall with 13% average error.</a:t>
            </a:r>
          </a:p>
          <a:p>
            <a:endParaRPr lang="en-US" dirty="0"/>
          </a:p>
          <a:p>
            <a:r>
              <a:rPr lang="en-US" dirty="0"/>
              <a:t>Our hybrid model was more consistent than accurate and not far behind in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8747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likely because RNN and LSTM didn’t have enough data over this small sample to really shine.</a:t>
            </a:r>
          </a:p>
          <a:p>
            <a:endParaRPr lang="en-US" dirty="0"/>
          </a:p>
          <a:p>
            <a:r>
              <a:rPr lang="en-US" dirty="0"/>
              <a:t>Not all players over the span appear to have been recorded in the dataset and we only took 3-season sample instead of a whole career.</a:t>
            </a:r>
          </a:p>
          <a:p>
            <a:endParaRPr lang="en-US" dirty="0"/>
          </a:p>
          <a:p>
            <a:r>
              <a:rPr lang="en-US" dirty="0"/>
              <a:t>Looking back, most of the improvement to be made boils down to adding more data, whether through volume or detail.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1FB8F-8741-45C7-94DA-62ADC1FBED6E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0436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762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949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152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445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68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131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681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378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610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509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467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614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274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58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021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0111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56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97FCC-1279-4C00-9FBE-7F7F167424E1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B15BC-13A9-4800-9246-96722A28E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730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vox.com/videos/2017/6/5/15740632/luck-skill-sport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lexbenzik/nhl-players-statistic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1986-27C0-1FAD-3AC0-8F56BC2C3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Comparing Neural Networks for NHL Performance Forecasting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631D5-0186-DFF3-3406-25B9856AE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ID: 44</a:t>
            </a:r>
          </a:p>
          <a:p>
            <a:r>
              <a:rPr lang="en-US" dirty="0"/>
              <a:t>Trevor Lee - 100751771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242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3D57-0024-C08D-A3CB-A934878F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D347-EB78-3D93-9242-B3814F93F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5796706" cy="3541714"/>
          </a:xfrm>
        </p:spPr>
        <p:txBody>
          <a:bodyPr/>
          <a:lstStyle/>
          <a:p>
            <a:r>
              <a:rPr lang="en-US" dirty="0"/>
              <a:t>Objective: predict next-season NHL player performance based on their prior 3 seasons</a:t>
            </a:r>
          </a:p>
          <a:p>
            <a:pPr lvl="1"/>
            <a:r>
              <a:rPr lang="en-US" dirty="0"/>
              <a:t>Stats in sports can be volatile, especially hockey</a:t>
            </a:r>
          </a:p>
          <a:p>
            <a:pPr lvl="1"/>
            <a:r>
              <a:rPr lang="en-US" dirty="0"/>
              <a:t>Want to see if we can make a viable solution</a:t>
            </a:r>
            <a:endParaRPr lang="en-CA" dirty="0"/>
          </a:p>
          <a:p>
            <a:r>
              <a:rPr lang="en-US" dirty="0"/>
              <a:t>Method: use MLP, RNN, LSTM, and a LSTM-MLP hybrid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F4F46-54A5-7D23-5FB8-714CEBAD5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19" y="2365987"/>
            <a:ext cx="4109292" cy="2311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C6700-F928-EE56-67B2-AA0B03B1FC41}"/>
              </a:ext>
            </a:extLst>
          </p:cNvPr>
          <p:cNvSpPr txBox="1"/>
          <p:nvPr/>
        </p:nvSpPr>
        <p:spPr>
          <a:xfrm>
            <a:off x="6938119" y="4677464"/>
            <a:ext cx="4109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Michael </a:t>
            </a:r>
            <a:r>
              <a:rPr lang="en-CA" dirty="0" err="1"/>
              <a:t>Mauboussin’s</a:t>
            </a:r>
            <a:r>
              <a:rPr lang="en-CA" dirty="0"/>
              <a:t> skill-luck continuum </a:t>
            </a:r>
            <a:r>
              <a:rPr lang="en-CA" dirty="0">
                <a:hlinkClick r:id="rId4"/>
              </a:rPr>
              <a:t>https://www.vox.com/videos/2017/6/5/15740632/luck-skill-sports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264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2BA6-496D-DB12-5098-E2405CB4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br>
              <a:rPr lang="en-US" dirty="0"/>
            </a:br>
            <a:r>
              <a:rPr lang="en-US" sz="2400" dirty="0">
                <a:latin typeface="+mn-lt"/>
              </a:rPr>
              <a:t>Source: </a:t>
            </a:r>
            <a:r>
              <a:rPr lang="en-US" sz="2400" dirty="0">
                <a:latin typeface="+mn-lt"/>
                <a:hlinkClick r:id="rId3"/>
              </a:rPr>
              <a:t>Kaggle – NHL Player Statistics by </a:t>
            </a:r>
            <a:r>
              <a:rPr lang="en-US" sz="2400" dirty="0" err="1">
                <a:latin typeface="+mn-lt"/>
                <a:hlinkClick r:id="rId3"/>
              </a:rPr>
              <a:t>Benzik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1FDA-9B45-2504-01A4-7063079F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Spans roughly 1979-80 to 2019-20</a:t>
            </a:r>
          </a:p>
          <a:p>
            <a:r>
              <a:rPr lang="en-US" dirty="0"/>
              <a:t>Contains rows of box score stats, player details, and more per player-season</a:t>
            </a:r>
          </a:p>
          <a:p>
            <a:r>
              <a:rPr lang="en-US" dirty="0"/>
              <a:t>Processed:</a:t>
            </a:r>
          </a:p>
          <a:p>
            <a:pPr lvl="1"/>
            <a:r>
              <a:rPr lang="en-US" dirty="0"/>
              <a:t>Removed goalies</a:t>
            </a:r>
          </a:p>
          <a:p>
            <a:pPr lvl="1"/>
            <a:r>
              <a:rPr lang="en-US" dirty="0"/>
              <a:t>Trimmed columns</a:t>
            </a:r>
          </a:p>
          <a:p>
            <a:pPr lvl="1"/>
            <a:r>
              <a:rPr lang="en-US" dirty="0"/>
              <a:t>Merge season stats when player was on multiple teams</a:t>
            </a:r>
          </a:p>
          <a:p>
            <a:pPr lvl="1"/>
            <a:r>
              <a:rPr lang="en-US" dirty="0"/>
              <a:t>Flattened 3-year stat lines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499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9887-32C5-265D-CE47-99D77D49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Features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C80F8-F95B-D6EB-383D-0FC5DF4C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7506829" cy="3541714"/>
          </a:xfrm>
        </p:spPr>
        <p:txBody>
          <a:bodyPr>
            <a:normAutofit/>
          </a:bodyPr>
          <a:lstStyle/>
          <a:p>
            <a:r>
              <a:rPr lang="en-CA" dirty="0"/>
              <a:t>Targets (y):</a:t>
            </a:r>
          </a:p>
          <a:p>
            <a:pPr lvl="1"/>
            <a:r>
              <a:rPr lang="en-US" dirty="0"/>
              <a:t>Per game rates of goals, assists, shots on goal (SOG) for the next season and total games played</a:t>
            </a:r>
          </a:p>
          <a:p>
            <a:r>
              <a:rPr lang="en-US" dirty="0"/>
              <a:t>Inputs (x):</a:t>
            </a:r>
          </a:p>
          <a:p>
            <a:pPr lvl="1"/>
            <a:r>
              <a:rPr lang="en-US" dirty="0"/>
              <a:t>Per game rates of goals, assists, shots on goal (SOG), as well as the shooting percentage and games played for the current season and previous 2 seasons</a:t>
            </a:r>
          </a:p>
          <a:p>
            <a:pPr lvl="1"/>
            <a:r>
              <a:rPr lang="en-US" dirty="0"/>
              <a:t>Player info (position, age, experience, height, weight, BMI)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F561A33-23FF-FC89-F283-BD1973DD2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241" y="1884880"/>
            <a:ext cx="2419474" cy="4197566"/>
          </a:xfrm>
          <a:prstGeom prst="rect">
            <a:avLst/>
          </a:prstGeom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0DD3368-84AB-96C3-B528-DB8C4AB31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241" y="830726"/>
            <a:ext cx="1847945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04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0DAE-0721-2FB1-BBD2-ECA038FE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7425-CC8E-FCEE-3242-29B612F7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Nearly identical functions to assignment 3</a:t>
            </a:r>
          </a:p>
          <a:p>
            <a:pPr lvl="1"/>
            <a:r>
              <a:rPr lang="en-US" dirty="0"/>
              <a:t>Modified to record error instead of accuracy</a:t>
            </a:r>
          </a:p>
          <a:p>
            <a:pPr lvl="1"/>
            <a:r>
              <a:rPr lang="en-US" dirty="0"/>
              <a:t>Learning rate of 1e-3</a:t>
            </a:r>
          </a:p>
          <a:p>
            <a:pPr lvl="1"/>
            <a:r>
              <a:rPr lang="en-US" dirty="0"/>
              <a:t>100 epochs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834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5B68-388D-86DC-9123-F0DC608A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AEF6-E265-D40C-26FB-8DA50A2E0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9905997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MLP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Connected layers on a flattened input</a:t>
            </a:r>
            <a:endParaRPr lang="en-CA" dirty="0"/>
          </a:p>
          <a:p>
            <a:pPr>
              <a:lnSpc>
                <a:spcPct val="110000"/>
              </a:lnSpc>
            </a:pPr>
            <a:r>
              <a:rPr lang="en-CA" sz="2000" dirty="0"/>
              <a:t>RNN</a:t>
            </a:r>
          </a:p>
          <a:p>
            <a:pPr lvl="1">
              <a:lnSpc>
                <a:spcPct val="110000"/>
              </a:lnSpc>
            </a:pPr>
            <a:r>
              <a:rPr lang="en-CA" dirty="0"/>
              <a:t>3 season sequence</a:t>
            </a:r>
          </a:p>
          <a:p>
            <a:pPr>
              <a:lnSpc>
                <a:spcPct val="110000"/>
              </a:lnSpc>
            </a:pPr>
            <a:r>
              <a:rPr lang="en-CA" sz="2000" dirty="0"/>
              <a:t>LSTM</a:t>
            </a:r>
          </a:p>
          <a:p>
            <a:pPr lvl="1">
              <a:lnSpc>
                <a:spcPct val="110000"/>
              </a:lnSpc>
            </a:pPr>
            <a:r>
              <a:rPr lang="en-CA" dirty="0"/>
              <a:t>Same as RNN but with LSTM instead</a:t>
            </a:r>
          </a:p>
          <a:p>
            <a:pPr>
              <a:lnSpc>
                <a:spcPct val="110000"/>
              </a:lnSpc>
            </a:pPr>
            <a:r>
              <a:rPr lang="en-CA" sz="2000" dirty="0"/>
              <a:t>LSTM + MLP</a:t>
            </a:r>
          </a:p>
          <a:p>
            <a:pPr lvl="1">
              <a:lnSpc>
                <a:spcPct val="110000"/>
              </a:lnSpc>
            </a:pPr>
            <a:r>
              <a:rPr lang="en-CA" dirty="0"/>
              <a:t>LSTM but passed through an MLP head instead of a single Linear 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79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5A91-2D51-1E47-C620-18F1C515F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Comparison</a:t>
            </a:r>
            <a:endParaRPr lang="en-CA" dirty="0"/>
          </a:p>
        </p:txBody>
      </p:sp>
      <p:pic>
        <p:nvPicPr>
          <p:cNvPr id="5" name="Content Placeholder 4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520D4806-FE17-D5EC-9673-B56466669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282" y="2249487"/>
            <a:ext cx="4507491" cy="354965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24CCEF-0F9C-55A2-8E69-EBBC116F5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r>
              <a:rPr lang="en-US" dirty="0"/>
              <a:t>MLP models converge faster</a:t>
            </a:r>
          </a:p>
          <a:p>
            <a:r>
              <a:rPr lang="en-US" dirty="0"/>
              <a:t>MLP models spike more</a:t>
            </a:r>
          </a:p>
        </p:txBody>
      </p:sp>
    </p:spTree>
    <p:extLst>
      <p:ext uri="{BB962C8B-B14F-4D97-AF65-F5344CB8AC3E}">
        <p14:creationId xmlns:p14="http://schemas.microsoft.com/office/powerpoint/2010/main" val="91556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AFBE-7588-3707-7CCF-E30F5979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Duncan Keith – 2018-19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C5F1-6467-C783-EE4B-4678E6473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Aging case – age 35</a:t>
            </a:r>
          </a:p>
          <a:p>
            <a:r>
              <a:rPr lang="en-US" dirty="0"/>
              <a:t>Inaccurate goal rates – small denominator</a:t>
            </a:r>
          </a:p>
          <a:p>
            <a:r>
              <a:rPr lang="en-US" dirty="0"/>
              <a:t>LSTM + MLP preformed best</a:t>
            </a:r>
          </a:p>
          <a:p>
            <a:endParaRPr lang="en-CA" dirty="0"/>
          </a:p>
        </p:txBody>
      </p:sp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B6204C19-1409-EA23-35BE-9C2D44481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99" y="4020344"/>
            <a:ext cx="8230023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94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AEF5-E55E-64C8-E597-EB6CDBAB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Evgeni Malkin – 2016-17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9280-DEAC-D972-D0E5-89DD56D2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Injury history case – consistently fewer than 70 GP</a:t>
            </a:r>
          </a:p>
          <a:p>
            <a:r>
              <a:rPr lang="en-US" dirty="0"/>
              <a:t>Poor goal rate prediction</a:t>
            </a:r>
            <a:endParaRPr lang="en-CA" dirty="0"/>
          </a:p>
          <a:p>
            <a:r>
              <a:rPr lang="en-CA" dirty="0"/>
              <a:t>Good GP predictions</a:t>
            </a:r>
          </a:p>
          <a:p>
            <a:r>
              <a:rPr lang="en-CA" dirty="0"/>
              <a:t>No clear winner</a:t>
            </a:r>
            <a:endParaRPr lang="en-US" dirty="0"/>
          </a:p>
        </p:txBody>
      </p:sp>
      <p:pic>
        <p:nvPicPr>
          <p:cNvPr id="5" name="Picture 4" descr="A screen shot of a blue screen&#10;&#10;AI-generated content may be incorrect.">
            <a:extLst>
              <a:ext uri="{FF2B5EF4-FFF2-40B4-BE49-F238E27FC236}">
                <a16:creationId xmlns:a16="http://schemas.microsoft.com/office/drawing/2014/main" id="{FC41E034-124D-CC08-0801-5B530054B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925" y="4560170"/>
            <a:ext cx="8210972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0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EC86-3585-4426-CDDC-B78AEE96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Lars Eller – 2017-18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5546-A8BB-57EB-DEAE-D4EC3FDE5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 player example</a:t>
            </a:r>
          </a:p>
          <a:p>
            <a:r>
              <a:rPr lang="en-US" dirty="0"/>
              <a:t>Poor goal predictions again</a:t>
            </a:r>
          </a:p>
          <a:p>
            <a:r>
              <a:rPr lang="en-CA" dirty="0"/>
              <a:t>Poor GP prediction</a:t>
            </a:r>
          </a:p>
          <a:p>
            <a:r>
              <a:rPr lang="en-CA" dirty="0"/>
              <a:t>MLP wins</a:t>
            </a:r>
          </a:p>
        </p:txBody>
      </p:sp>
      <p:pic>
        <p:nvPicPr>
          <p:cNvPr id="5" name="Picture 4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6BFA25E9-CD2F-19E5-7849-6CD0E34ED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750" y="4521835"/>
            <a:ext cx="8217322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0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560A-198B-0399-A40E-422C96C2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Jack Hughes – 2024-25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755B6-B9A3-4B79-CE05-6EC2F85B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Emerging star</a:t>
            </a:r>
          </a:p>
          <a:p>
            <a:r>
              <a:rPr lang="en-US" dirty="0"/>
              <a:t>Injury history</a:t>
            </a:r>
          </a:p>
          <a:p>
            <a:r>
              <a:rPr lang="en-US" dirty="0"/>
              <a:t>More accurate – larger denominators</a:t>
            </a:r>
          </a:p>
          <a:p>
            <a:r>
              <a:rPr lang="en-US" dirty="0"/>
              <a:t>MLP models performed best</a:t>
            </a:r>
            <a:endParaRPr lang="en-CA" dirty="0"/>
          </a:p>
        </p:txBody>
      </p:sp>
      <p:pic>
        <p:nvPicPr>
          <p:cNvPr id="5" name="Picture 4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BB34EE67-A24D-9D14-734E-CA5CA52B8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275" y="4569078"/>
            <a:ext cx="8198271" cy="20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8602-3D2A-6EF9-15BE-B397E3CC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Jared McCann – 2024-45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B0F1-C8BD-4729-FDAC-B113A56EE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Outlier shooting percentage</a:t>
            </a:r>
          </a:p>
          <a:p>
            <a:r>
              <a:rPr lang="en-US" dirty="0"/>
              <a:t>Goals look off – look back at shooting percentage</a:t>
            </a:r>
          </a:p>
          <a:p>
            <a:r>
              <a:rPr lang="en-US" dirty="0"/>
              <a:t>GP not good</a:t>
            </a:r>
          </a:p>
          <a:p>
            <a:r>
              <a:rPr lang="en-US" dirty="0"/>
              <a:t>MLP clear best</a:t>
            </a:r>
          </a:p>
          <a:p>
            <a:endParaRPr lang="en-CA" dirty="0"/>
          </a:p>
        </p:txBody>
      </p:sp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A697862B-B0A5-0F4A-7EF1-CCC98C5C2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275" y="4468243"/>
            <a:ext cx="8198271" cy="2063856"/>
          </a:xfrm>
          <a:prstGeom prst="rect">
            <a:avLst/>
          </a:prstGeom>
        </p:spPr>
      </p:pic>
      <p:pic>
        <p:nvPicPr>
          <p:cNvPr id="7" name="Picture 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3B01AD8-4879-11B0-F396-B64CCFCAE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982" y="2482764"/>
            <a:ext cx="2723187" cy="124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86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B560-1960-14D4-550A-E41106125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Rasmus Dahlin – 2024-25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FA12-2306-A238-B365-6FF9D5C33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Prime-aged star defender</a:t>
            </a:r>
          </a:p>
          <a:p>
            <a:r>
              <a:rPr lang="en-US" dirty="0"/>
              <a:t>Very accurate</a:t>
            </a:r>
          </a:p>
          <a:p>
            <a:r>
              <a:rPr lang="en-US" dirty="0"/>
              <a:t>No clear winner</a:t>
            </a:r>
            <a:endParaRPr lang="en-CA" dirty="0"/>
          </a:p>
        </p:txBody>
      </p:sp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CA009C64-7AC5-7627-070A-12F9191AE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801" y="4020344"/>
            <a:ext cx="8179220" cy="20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2ED2-13DF-8442-916F-648E4C45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4BBBA-BF42-2B4E-59E3-BABF89E9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/>
          <a:lstStyle/>
          <a:p>
            <a:r>
              <a:rPr lang="en-US" dirty="0"/>
              <a:t>MLP performed best on half the players</a:t>
            </a:r>
          </a:p>
          <a:p>
            <a:r>
              <a:rPr lang="en-US" dirty="0"/>
              <a:t>LSTM + MLP most consistent</a:t>
            </a:r>
          </a:p>
          <a:p>
            <a:r>
              <a:rPr lang="en-US" dirty="0"/>
              <a:t>MLP performed best in test</a:t>
            </a:r>
          </a:p>
          <a:p>
            <a:pPr lvl="1"/>
            <a:r>
              <a:rPr lang="en-US" dirty="0"/>
              <a:t>LSTM + MLP close behind</a:t>
            </a:r>
            <a:endParaRPr lang="en-CA" dirty="0"/>
          </a:p>
        </p:txBody>
      </p:sp>
      <p:pic>
        <p:nvPicPr>
          <p:cNvPr id="5" name="Picture 4" descr="A blue screen with white numbers&#10;&#10;AI-generated content may be incorrect.">
            <a:extLst>
              <a:ext uri="{FF2B5EF4-FFF2-40B4-BE49-F238E27FC236}">
                <a16:creationId xmlns:a16="http://schemas.microsoft.com/office/drawing/2014/main" id="{5006DB28-7298-E37A-2803-35A19B916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921" y="2249487"/>
            <a:ext cx="4667490" cy="1790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11BC2-7BB2-014A-DCBF-537C25F8B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386" y="4196488"/>
            <a:ext cx="4369025" cy="50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3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DB1D-D668-C285-60F5-F57FBF89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6C19-700C-58C8-1262-E3860F4B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RNN and LSTM didn’t have enough data to shine</a:t>
            </a:r>
          </a:p>
          <a:p>
            <a:pPr lvl="1"/>
            <a:r>
              <a:rPr lang="en-US" dirty="0"/>
              <a:t>Only 3 seasons</a:t>
            </a:r>
          </a:p>
          <a:p>
            <a:pPr lvl="1"/>
            <a:r>
              <a:rPr lang="en-US" dirty="0"/>
              <a:t>Conditioned data</a:t>
            </a:r>
          </a:p>
          <a:p>
            <a:pPr lvl="1"/>
            <a:r>
              <a:rPr lang="en-US" dirty="0"/>
              <a:t>Small dataset</a:t>
            </a:r>
          </a:p>
          <a:p>
            <a:r>
              <a:rPr lang="en-US" dirty="0"/>
              <a:t>Improvements</a:t>
            </a:r>
          </a:p>
          <a:p>
            <a:pPr lvl="1"/>
            <a:r>
              <a:rPr lang="en-US" dirty="0"/>
              <a:t>Context</a:t>
            </a:r>
          </a:p>
          <a:p>
            <a:pPr lvl="1"/>
            <a:r>
              <a:rPr lang="en-US" dirty="0"/>
              <a:t>Flags</a:t>
            </a:r>
          </a:p>
          <a:p>
            <a:pPr lvl="1"/>
            <a:r>
              <a:rPr lang="en-US" dirty="0"/>
              <a:t>Details</a:t>
            </a:r>
          </a:p>
          <a:p>
            <a:pPr lvl="1"/>
            <a:r>
              <a:rPr lang="en-US" dirty="0"/>
              <a:t>More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282392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177</TotalTime>
  <Words>1158</Words>
  <Application>Microsoft Office PowerPoint</Application>
  <PresentationFormat>Widescreen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Tw Cen MT</vt:lpstr>
      <vt:lpstr>Circuit</vt:lpstr>
      <vt:lpstr>Comparing Neural Networks for NHL Performance Forecasting</vt:lpstr>
      <vt:lpstr>The Problem</vt:lpstr>
      <vt:lpstr>Dataset Source: Kaggle – NHL Player Statistics by Benzik</vt:lpstr>
      <vt:lpstr>Training Features</vt:lpstr>
      <vt:lpstr>Training</vt:lpstr>
      <vt:lpstr>Models</vt:lpstr>
      <vt:lpstr>Comparison</vt:lpstr>
      <vt:lpstr>Application – Duncan Keith – 2018-19</vt:lpstr>
      <vt:lpstr>Application – Evgeni Malkin – 2016-17</vt:lpstr>
      <vt:lpstr>Application – Lars Eller – 2017-18</vt:lpstr>
      <vt:lpstr>Application – Jack Hughes – 2024-25</vt:lpstr>
      <vt:lpstr>Application – Jared McCann – 2024-45</vt:lpstr>
      <vt:lpstr>Application – Rasmus Dahlin – 2024-25</vt:lpstr>
      <vt:lpstr>Analysis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Lee</dc:creator>
  <cp:lastModifiedBy>Trevor Lee</cp:lastModifiedBy>
  <cp:revision>4</cp:revision>
  <dcterms:created xsi:type="dcterms:W3CDTF">2025-12-08T15:02:16Z</dcterms:created>
  <dcterms:modified xsi:type="dcterms:W3CDTF">2025-12-09T00:32:19Z</dcterms:modified>
</cp:coreProperties>
</file>