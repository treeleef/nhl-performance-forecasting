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81" d="100"/>
          <a:sy n="81" d="100"/>
        </p:scale>
        <p:origin x="64" y="1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1A678B-9F29-44FB-92F4-4C1E2DA9DD1D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A1FB8F-8741-45C7-94DA-62ADC1FBED6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288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Prone to injury due to high contact, a more luck-based sport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A1FB8F-8741-45C7-94DA-62ADC1FBED6E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17204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Goalies use different stats than skaters</a:t>
            </a:r>
          </a:p>
          <a:p>
            <a:r>
              <a:rPr lang="en-US" dirty="0"/>
              <a:t>Incomplete data or info deemed irrelevant or redundant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A1FB8F-8741-45C7-94DA-62ADC1FBED6E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6967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from assignment 2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A1FB8F-8741-45C7-94DA-62ADC1FBED6E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4624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Spikes are due to the model architecture.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A1FB8F-8741-45C7-94DA-62ADC1FBED6E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2531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7623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99495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1529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1445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3689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1312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6813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3787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66104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35095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94671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8614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6274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958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300212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01110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9568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E97FCC-1279-4C00-9FBE-7F7F167424E1}" type="datetimeFigureOut">
              <a:rPr lang="en-CA" smtClean="0"/>
              <a:t>2025-12-08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9B15BC-13A9-4800-9246-96722A28EA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67308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vox.com/videos/2017/6/5/15740632/luck-skill-sport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lexbenzik/nhl-players-statistic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51986-27C0-1FAD-3AC0-8F56BC2C38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Comparing Neural Networks for NHL Performance Forecasting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E631D5-0186-DFF3-3406-25B9856AEC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Group ID: 44</a:t>
            </a:r>
          </a:p>
          <a:p>
            <a:r>
              <a:rPr lang="en-US" dirty="0"/>
              <a:t>Trevor Lee - 100751771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0242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F3D57-0024-C08D-A3CB-A934878F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AD347-EB78-3D93-9242-B3814F93F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5796706" cy="3541714"/>
          </a:xfrm>
        </p:spPr>
        <p:txBody>
          <a:bodyPr/>
          <a:lstStyle/>
          <a:p>
            <a:r>
              <a:rPr lang="en-US" dirty="0"/>
              <a:t>Objective: predict next-season NHL player performance based on their prior 3 seasons</a:t>
            </a:r>
          </a:p>
          <a:p>
            <a:pPr lvl="1"/>
            <a:r>
              <a:rPr lang="en-US" dirty="0"/>
              <a:t>Stats in sports can be volatile, especially hockey</a:t>
            </a:r>
          </a:p>
          <a:p>
            <a:pPr lvl="1"/>
            <a:r>
              <a:rPr lang="en-US" dirty="0"/>
              <a:t>Want to see if we can make a viable solution</a:t>
            </a:r>
            <a:endParaRPr lang="en-CA" dirty="0"/>
          </a:p>
          <a:p>
            <a:r>
              <a:rPr lang="en-US" dirty="0"/>
              <a:t>Method: use MLP, RNN, LSTM, and a LSTM-MLP hybrid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F4F46-54A5-7D23-5FB8-714CEBAD5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19" y="2365987"/>
            <a:ext cx="4109292" cy="2311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8C6700-F928-EE56-67B2-AA0B03B1FC41}"/>
              </a:ext>
            </a:extLst>
          </p:cNvPr>
          <p:cNvSpPr txBox="1"/>
          <p:nvPr/>
        </p:nvSpPr>
        <p:spPr>
          <a:xfrm>
            <a:off x="6938119" y="4677464"/>
            <a:ext cx="4109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Michael </a:t>
            </a:r>
            <a:r>
              <a:rPr lang="en-CA" dirty="0" err="1"/>
              <a:t>Mauboussin’s</a:t>
            </a:r>
            <a:r>
              <a:rPr lang="en-CA" dirty="0"/>
              <a:t> skill-luck continuum </a:t>
            </a:r>
            <a:r>
              <a:rPr lang="en-CA" dirty="0">
                <a:hlinkClick r:id="rId4"/>
              </a:rPr>
              <a:t>https://www.vox.com/videos/2017/6/5/15740632/luck-skill-sports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2649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92BA6-496D-DB12-5098-E2405CB4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  <a:br>
              <a:rPr lang="en-US" dirty="0"/>
            </a:br>
            <a:r>
              <a:rPr lang="en-US" sz="2400" dirty="0">
                <a:latin typeface="+mn-lt"/>
              </a:rPr>
              <a:t>Source: </a:t>
            </a:r>
            <a:r>
              <a:rPr lang="en-US" sz="2400" dirty="0">
                <a:latin typeface="+mn-lt"/>
                <a:hlinkClick r:id="rId3"/>
              </a:rPr>
              <a:t>Kaggle – NHL Player Statistics by </a:t>
            </a:r>
            <a:r>
              <a:rPr lang="en-US" sz="2400" dirty="0" err="1">
                <a:latin typeface="+mn-lt"/>
                <a:hlinkClick r:id="rId3"/>
              </a:rPr>
              <a:t>Benzik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21FDA-9B45-2504-01A4-7063079F0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Spans roughly 1979-80 to 2019-20</a:t>
            </a:r>
          </a:p>
          <a:p>
            <a:r>
              <a:rPr lang="en-US" dirty="0"/>
              <a:t>Contains rows of box score stats, player details, and more per player-season</a:t>
            </a:r>
          </a:p>
          <a:p>
            <a:r>
              <a:rPr lang="en-US" dirty="0"/>
              <a:t>Processed:</a:t>
            </a:r>
          </a:p>
          <a:p>
            <a:pPr lvl="1"/>
            <a:r>
              <a:rPr lang="en-US" dirty="0"/>
              <a:t>Removed goalies</a:t>
            </a:r>
          </a:p>
          <a:p>
            <a:pPr lvl="1"/>
            <a:r>
              <a:rPr lang="en-US" dirty="0"/>
              <a:t>Trimmed columns</a:t>
            </a:r>
          </a:p>
          <a:p>
            <a:pPr lvl="1"/>
            <a:r>
              <a:rPr lang="en-US" dirty="0"/>
              <a:t>Merge season stats when player was on multiple teams</a:t>
            </a:r>
          </a:p>
          <a:p>
            <a:pPr lvl="1"/>
            <a:r>
              <a:rPr lang="en-US" dirty="0"/>
              <a:t>Flattened 3-year stat lines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694993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09887-32C5-265D-CE47-99D77D491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Features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C80F8-F95B-D6EB-383D-0FC5DF4C2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7506829" cy="3541714"/>
          </a:xfrm>
        </p:spPr>
        <p:txBody>
          <a:bodyPr/>
          <a:lstStyle/>
          <a:p>
            <a:r>
              <a:rPr lang="en-US" dirty="0"/>
              <a:t>Inputs (x):</a:t>
            </a:r>
          </a:p>
          <a:p>
            <a:pPr lvl="1"/>
            <a:r>
              <a:rPr lang="en-US" dirty="0"/>
              <a:t>Per game rates of goals, assists, shots on goal (SOG), as well as the shooting percentage for the current season and previous 2 seasons</a:t>
            </a:r>
          </a:p>
          <a:p>
            <a:pPr lvl="1"/>
            <a:r>
              <a:rPr lang="en-US" dirty="0"/>
              <a:t>Player info (position, age, experience, height, weight, BMI)</a:t>
            </a:r>
          </a:p>
          <a:p>
            <a:r>
              <a:rPr lang="en-CA" dirty="0"/>
              <a:t>Targets (y):</a:t>
            </a:r>
          </a:p>
          <a:p>
            <a:pPr lvl="1"/>
            <a:r>
              <a:rPr lang="en-US" dirty="0"/>
              <a:t>Per game rates of goals, assists, shots on goal (SOG) for the next season</a:t>
            </a:r>
            <a:endParaRPr lang="en-CA" dirty="0"/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F561A33-23FF-FC89-F283-BD1973DD2B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8241" y="618518"/>
            <a:ext cx="2419474" cy="4197566"/>
          </a:xfrm>
          <a:prstGeom prst="rect">
            <a:avLst/>
          </a:prstGeom>
        </p:spPr>
      </p:pic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50DD3368-84AB-96C3-B528-DB8C4AB310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8241" y="4816084"/>
            <a:ext cx="1847945" cy="105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304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D0DAE-0721-2FB1-BBD2-ECA038FE0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B7425-CC8E-FCEE-3242-29B612F79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Nearly identical functions to assignment 3</a:t>
            </a:r>
          </a:p>
          <a:p>
            <a:pPr lvl="1"/>
            <a:r>
              <a:rPr lang="en-US" dirty="0"/>
              <a:t>Modified to record error instead of accuracy</a:t>
            </a:r>
          </a:p>
          <a:p>
            <a:pPr lvl="1"/>
            <a:r>
              <a:rPr lang="en-US" dirty="0"/>
              <a:t>Learning rate of 1e-3</a:t>
            </a:r>
          </a:p>
          <a:p>
            <a:pPr lvl="1"/>
            <a:r>
              <a:rPr lang="en-US" dirty="0"/>
              <a:t>100 epochs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88345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05B68-388D-86DC-9123-F0DC608A5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en-US" dirty="0"/>
              <a:t>Models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BAEF6-E265-D40C-26FB-8DA50A2E0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9905997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MLP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Connected layers on a flattened input</a:t>
            </a:r>
            <a:endParaRPr lang="en-CA" dirty="0"/>
          </a:p>
          <a:p>
            <a:pPr>
              <a:lnSpc>
                <a:spcPct val="110000"/>
              </a:lnSpc>
            </a:pPr>
            <a:r>
              <a:rPr lang="en-CA" sz="2000" dirty="0"/>
              <a:t>RNN</a:t>
            </a:r>
          </a:p>
          <a:p>
            <a:pPr lvl="1">
              <a:lnSpc>
                <a:spcPct val="110000"/>
              </a:lnSpc>
            </a:pPr>
            <a:r>
              <a:rPr lang="en-CA" dirty="0"/>
              <a:t>3 season sequence</a:t>
            </a:r>
          </a:p>
          <a:p>
            <a:pPr>
              <a:lnSpc>
                <a:spcPct val="110000"/>
              </a:lnSpc>
            </a:pPr>
            <a:r>
              <a:rPr lang="en-CA" sz="2000" dirty="0"/>
              <a:t>LSTM</a:t>
            </a:r>
          </a:p>
          <a:p>
            <a:pPr lvl="1">
              <a:lnSpc>
                <a:spcPct val="110000"/>
              </a:lnSpc>
            </a:pPr>
            <a:r>
              <a:rPr lang="en-CA" dirty="0"/>
              <a:t>Same as RNN but with LSTM instead</a:t>
            </a:r>
          </a:p>
          <a:p>
            <a:pPr>
              <a:lnSpc>
                <a:spcPct val="110000"/>
              </a:lnSpc>
            </a:pPr>
            <a:r>
              <a:rPr lang="en-CA" sz="2000" dirty="0"/>
              <a:t>LSTM + MLP</a:t>
            </a:r>
          </a:p>
          <a:p>
            <a:pPr lvl="1">
              <a:lnSpc>
                <a:spcPct val="110000"/>
              </a:lnSpc>
            </a:pPr>
            <a:r>
              <a:rPr lang="en-CA" dirty="0"/>
              <a:t>LSTM but passed through an MLP head instead of a single Linear Layer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796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C5A91-2D51-1E47-C620-18F1C515F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en-US" dirty="0"/>
              <a:t>Comparison</a:t>
            </a:r>
            <a:endParaRPr lang="en-CA" dirty="0"/>
          </a:p>
        </p:txBody>
      </p:sp>
      <p:pic>
        <p:nvPicPr>
          <p:cNvPr id="5" name="Content Placeholder 4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520D4806-FE17-D5EC-9673-B56466669F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282" y="2249487"/>
            <a:ext cx="4507491" cy="3549650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24CCEF-0F9C-55A2-8E69-EBBC116F5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/>
              <a:t>MLP models converge faster</a:t>
            </a:r>
          </a:p>
          <a:p>
            <a:r>
              <a:rPr lang="en-US" dirty="0"/>
              <a:t>MLP models spike more</a:t>
            </a:r>
          </a:p>
        </p:txBody>
      </p:sp>
    </p:spTree>
    <p:extLst>
      <p:ext uri="{BB962C8B-B14F-4D97-AF65-F5344CB8AC3E}">
        <p14:creationId xmlns:p14="http://schemas.microsoft.com/office/powerpoint/2010/main" val="915562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2AFBE-7588-3707-7CCF-E30F59794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Duncan Keith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5C5F1-6467-C783-EE4B-4678E647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Aging case – age 35</a:t>
            </a:r>
          </a:p>
          <a:p>
            <a:r>
              <a:rPr lang="en-US" dirty="0"/>
              <a:t>Inaccurate goal rates – small denominator</a:t>
            </a:r>
          </a:p>
          <a:p>
            <a:r>
              <a:rPr lang="en-US" dirty="0"/>
              <a:t>LSTM + MLP preformed best</a:t>
            </a:r>
          </a:p>
          <a:p>
            <a:endParaRPr lang="en-CA" dirty="0"/>
          </a:p>
        </p:txBody>
      </p:sp>
      <p:pic>
        <p:nvPicPr>
          <p:cNvPr id="7" name="Picture 6" descr="A blue screen with white text&#10;&#10;AI-generated content may be incorrect.">
            <a:extLst>
              <a:ext uri="{FF2B5EF4-FFF2-40B4-BE49-F238E27FC236}">
                <a16:creationId xmlns:a16="http://schemas.microsoft.com/office/drawing/2014/main" id="{B6204C19-1409-EA23-35BE-9C2D44481B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399" y="4020344"/>
            <a:ext cx="8230023" cy="208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94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9AEF5-E55E-64C8-E597-EB6CDBABE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Evgeni Malkin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69280-DEAC-D972-D0E5-89DD56D22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Injury history case – consistently fewer than 70 GP</a:t>
            </a:r>
          </a:p>
          <a:p>
            <a:r>
              <a:rPr lang="en-US" dirty="0"/>
              <a:t>Poor goal rate prediction</a:t>
            </a:r>
            <a:endParaRPr lang="en-CA" dirty="0"/>
          </a:p>
          <a:p>
            <a:r>
              <a:rPr lang="en-CA" dirty="0"/>
              <a:t>Good GP predictions</a:t>
            </a:r>
          </a:p>
          <a:p>
            <a:r>
              <a:rPr lang="en-CA" dirty="0"/>
              <a:t>No clear winner</a:t>
            </a:r>
            <a:endParaRPr lang="en-US" dirty="0"/>
          </a:p>
        </p:txBody>
      </p:sp>
      <p:pic>
        <p:nvPicPr>
          <p:cNvPr id="5" name="Picture 4" descr="A screen shot of a blue screen&#10;&#10;AI-generated content may be incorrect.">
            <a:extLst>
              <a:ext uri="{FF2B5EF4-FFF2-40B4-BE49-F238E27FC236}">
                <a16:creationId xmlns:a16="http://schemas.microsoft.com/office/drawing/2014/main" id="{FC41E034-124D-CC08-0801-5B530054B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925" y="4560170"/>
            <a:ext cx="8210972" cy="20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805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EC86-3585-4426-CDDC-B78AEE966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Lars Eller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85546-A8BB-57EB-DEAE-D4EC3FDE5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Depth player example</a:t>
            </a:r>
          </a:p>
          <a:p>
            <a:r>
              <a:rPr lang="en-US" dirty="0"/>
              <a:t>Poor goal predictions again</a:t>
            </a:r>
          </a:p>
          <a:p>
            <a:r>
              <a:rPr lang="en-CA" dirty="0"/>
              <a:t>Poor GP prediction</a:t>
            </a:r>
          </a:p>
          <a:p>
            <a:r>
              <a:rPr lang="en-CA" dirty="0"/>
              <a:t>MLP wins</a:t>
            </a:r>
          </a:p>
        </p:txBody>
      </p:sp>
      <p:pic>
        <p:nvPicPr>
          <p:cNvPr id="5" name="Picture 4" descr="A blue screen with white text&#10;&#10;AI-generated content may be incorrect.">
            <a:extLst>
              <a:ext uri="{FF2B5EF4-FFF2-40B4-BE49-F238E27FC236}">
                <a16:creationId xmlns:a16="http://schemas.microsoft.com/office/drawing/2014/main" id="{6BFA25E9-CD2F-19E5-7849-6CD0E34ED0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750" y="4521835"/>
            <a:ext cx="8217322" cy="2044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807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2560A-198B-0399-A40E-422C96C2C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Jack Hughes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755B6-B9A3-4B79-CE05-6EC2F85B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Emerging star</a:t>
            </a:r>
          </a:p>
          <a:p>
            <a:r>
              <a:rPr lang="en-US" dirty="0"/>
              <a:t>Injury history</a:t>
            </a:r>
          </a:p>
          <a:p>
            <a:r>
              <a:rPr lang="en-US" dirty="0"/>
              <a:t>More accurate – larger denominators</a:t>
            </a:r>
          </a:p>
          <a:p>
            <a:r>
              <a:rPr lang="en-US" dirty="0"/>
              <a:t>MLP models performed best</a:t>
            </a:r>
            <a:endParaRPr lang="en-CA" dirty="0"/>
          </a:p>
        </p:txBody>
      </p:sp>
      <p:pic>
        <p:nvPicPr>
          <p:cNvPr id="5" name="Picture 4" descr="A blue screen with white text&#10;&#10;AI-generated content may be incorrect.">
            <a:extLst>
              <a:ext uri="{FF2B5EF4-FFF2-40B4-BE49-F238E27FC236}">
                <a16:creationId xmlns:a16="http://schemas.microsoft.com/office/drawing/2014/main" id="{BB34EE67-A24D-9D14-734E-CA5CA52B89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5275" y="4569078"/>
            <a:ext cx="8198271" cy="203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71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38602-3D2A-6EF9-15BE-B397E3CCA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Jared McCann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8B0F1-C8BD-4729-FDAC-B113A56EE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Outlier shooting percentage</a:t>
            </a:r>
          </a:p>
          <a:p>
            <a:r>
              <a:rPr lang="en-US" dirty="0"/>
              <a:t>Goals look off – look back at shooting percentage</a:t>
            </a:r>
          </a:p>
          <a:p>
            <a:r>
              <a:rPr lang="en-US" dirty="0"/>
              <a:t>GP not good</a:t>
            </a:r>
          </a:p>
          <a:p>
            <a:r>
              <a:rPr lang="en-US" dirty="0"/>
              <a:t>MLP clear best</a:t>
            </a:r>
          </a:p>
          <a:p>
            <a:endParaRPr lang="en-CA" dirty="0"/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A697862B-B0A5-0F4A-7EF1-CCC98C5C20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5275" y="4468243"/>
            <a:ext cx="8198271" cy="2063856"/>
          </a:xfrm>
          <a:prstGeom prst="rect">
            <a:avLst/>
          </a:prstGeom>
        </p:spPr>
      </p:pic>
      <p:pic>
        <p:nvPicPr>
          <p:cNvPr id="7" name="Picture 6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13B01AD8-4879-11B0-F396-B64CCFCAE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3982" y="2482764"/>
            <a:ext cx="2723187" cy="124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886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8B560-1960-14D4-550A-E41106125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Rasmus Dahlin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FA12-2306-A238-B365-6FF9D5C33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Prime-aged star defender</a:t>
            </a:r>
          </a:p>
          <a:p>
            <a:r>
              <a:rPr lang="en-US" dirty="0"/>
              <a:t>Very accurate</a:t>
            </a:r>
          </a:p>
          <a:p>
            <a:r>
              <a:rPr lang="en-US" dirty="0"/>
              <a:t>No clear winner</a:t>
            </a:r>
            <a:endParaRPr lang="en-CA" dirty="0"/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CA009C64-7AC5-7627-070A-12F9191AE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801" y="4020344"/>
            <a:ext cx="8179220" cy="203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58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22ED2-13DF-8442-916F-648E4C45E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4BBBA-BF42-2B4E-59E3-BABF89E99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en-US" dirty="0"/>
              <a:t>MLP performed best on half the players</a:t>
            </a:r>
          </a:p>
          <a:p>
            <a:r>
              <a:rPr lang="en-US" dirty="0"/>
              <a:t>LSTM + MLP most consistent</a:t>
            </a:r>
          </a:p>
          <a:p>
            <a:r>
              <a:rPr lang="en-US" dirty="0"/>
              <a:t>MLP performed best in test</a:t>
            </a:r>
          </a:p>
          <a:p>
            <a:pPr lvl="1"/>
            <a:r>
              <a:rPr lang="en-US" dirty="0"/>
              <a:t>LSTM + MLP close behind</a:t>
            </a:r>
            <a:endParaRPr lang="en-CA" dirty="0"/>
          </a:p>
        </p:txBody>
      </p:sp>
      <p:pic>
        <p:nvPicPr>
          <p:cNvPr id="5" name="Picture 4" descr="A blue screen with white numbers&#10;&#10;AI-generated content may be incorrect.">
            <a:extLst>
              <a:ext uri="{FF2B5EF4-FFF2-40B4-BE49-F238E27FC236}">
                <a16:creationId xmlns:a16="http://schemas.microsoft.com/office/drawing/2014/main" id="{5006DB28-7298-E37A-2803-35A19B916C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9921" y="2249487"/>
            <a:ext cx="4667490" cy="1790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411BC2-7BB2-014A-DCBF-537C25F8B9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8386" y="4196488"/>
            <a:ext cx="4369025" cy="50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733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DB1D-D668-C285-60F5-F57FBF89A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36C19-700C-58C8-1262-E3860F4B6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RNN and LSTM didn’t have enough data to shine</a:t>
            </a:r>
          </a:p>
          <a:p>
            <a:pPr lvl="1"/>
            <a:r>
              <a:rPr lang="en-US" dirty="0"/>
              <a:t>Only 3 seasons</a:t>
            </a:r>
          </a:p>
          <a:p>
            <a:pPr lvl="1"/>
            <a:r>
              <a:rPr lang="en-US" dirty="0"/>
              <a:t>Conditioned data</a:t>
            </a:r>
          </a:p>
          <a:p>
            <a:pPr lvl="1"/>
            <a:r>
              <a:rPr lang="en-US" dirty="0"/>
              <a:t>Small dataset</a:t>
            </a:r>
          </a:p>
          <a:p>
            <a:r>
              <a:rPr lang="en-US" dirty="0"/>
              <a:t>Improvements</a:t>
            </a:r>
          </a:p>
          <a:p>
            <a:pPr lvl="1"/>
            <a:r>
              <a:rPr lang="en-US" dirty="0"/>
              <a:t>Context</a:t>
            </a:r>
          </a:p>
          <a:p>
            <a:pPr lvl="1"/>
            <a:r>
              <a:rPr lang="en-US" dirty="0"/>
              <a:t>Flags</a:t>
            </a:r>
          </a:p>
          <a:p>
            <a:pPr lvl="1"/>
            <a:r>
              <a:rPr lang="en-US" dirty="0"/>
              <a:t>Details</a:t>
            </a:r>
          </a:p>
          <a:p>
            <a:pPr lvl="1"/>
            <a:r>
              <a:rPr lang="en-US" dirty="0"/>
              <a:t>More data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72823928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99</TotalTime>
  <Words>462</Words>
  <Application>Microsoft Office PowerPoint</Application>
  <PresentationFormat>Widescreen</PresentationFormat>
  <Paragraphs>92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Tw Cen MT</vt:lpstr>
      <vt:lpstr>Circuit</vt:lpstr>
      <vt:lpstr>Comparing Neural Networks for NHL Performance Forecasting</vt:lpstr>
      <vt:lpstr>The Problem</vt:lpstr>
      <vt:lpstr>Dataset Source: Kaggle – NHL Player Statistics by Benzik</vt:lpstr>
      <vt:lpstr>Training Features</vt:lpstr>
      <vt:lpstr>Training</vt:lpstr>
      <vt:lpstr>Models</vt:lpstr>
      <vt:lpstr>Comparison</vt:lpstr>
      <vt:lpstr>Application – Duncan Keith</vt:lpstr>
      <vt:lpstr>Application – Evgeni Malkin</vt:lpstr>
      <vt:lpstr>Application – Lars Eller</vt:lpstr>
      <vt:lpstr>Application – Jack Hughes</vt:lpstr>
      <vt:lpstr>Application – Jared McCann</vt:lpstr>
      <vt:lpstr>Application – Rasmus Dahlin</vt:lpstr>
      <vt:lpstr>Analysis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Trevor Lee</dc:creator>
  <cp:lastModifiedBy>Trevor Lee</cp:lastModifiedBy>
  <cp:revision>2</cp:revision>
  <dcterms:created xsi:type="dcterms:W3CDTF">2025-12-08T15:02:16Z</dcterms:created>
  <dcterms:modified xsi:type="dcterms:W3CDTF">2025-12-08T16:41:22Z</dcterms:modified>
</cp:coreProperties>
</file>